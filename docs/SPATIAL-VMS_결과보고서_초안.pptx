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— 팀명/팀원 이름은 실제 명단으로 교체 필요. 저장소 커밋에서 확인되는 이름은 송영빈(youngbinsong/Ybs0127) 1인이며, mainvoid00 계정의 실명 확인이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배경/의도는 기획안 원문이 확보되면 문구를 맞출 것. 현재는 저장소 README 와 커밋 메시지에서 도출.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배분은 README 의 파트 표기(데몬=이현우, 브로커·인증서=이광진, 카메라 캘리브=이영민)에서 가져왔다. 실제 담당과 다르면 수정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점수와 느낀 점은 초안. 팀 협의 후 각자 문장으로 교체할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/>
        </p:spPr>
      </p:sp>
      <p:sp>
        <p:nvSpPr>
          <p:cNvPr id="3" name="Shape 1"/>
          <p:cNvSpPr/>
          <p:nvPr/>
        </p:nvSpPr>
        <p:spPr>
          <a:xfrm>
            <a:off x="9277798" y="3790309"/>
            <a:ext cx="32712" cy="32712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6078" y="3466937"/>
            <a:ext cx="31024" cy="3102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770" y="2898973"/>
            <a:ext cx="40437" cy="4043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33082" y="912372"/>
            <a:ext cx="50226" cy="50226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07451" y="1396155"/>
            <a:ext cx="53053" cy="53053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68818" y="754813"/>
            <a:ext cx="70369" cy="7036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84953" y="3097501"/>
            <a:ext cx="71127" cy="7112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3330" y="3728040"/>
            <a:ext cx="58150" cy="58150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9053" y="6315320"/>
            <a:ext cx="47807" cy="47807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7810" y="2420896"/>
            <a:ext cx="34454" cy="3445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7476" y="2537791"/>
            <a:ext cx="31073" cy="31073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88595" y="5712094"/>
            <a:ext cx="48953" cy="48953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54134" y="2844959"/>
            <a:ext cx="62128" cy="6212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63009" y="1787809"/>
            <a:ext cx="48023" cy="48023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10563" y="2907534"/>
            <a:ext cx="58565" cy="5856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57684" y="2388488"/>
            <a:ext cx="47469" cy="47469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13689" y="5440494"/>
            <a:ext cx="48039" cy="48039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8718" y="1864041"/>
            <a:ext cx="61403" cy="61403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0942" y="5013884"/>
            <a:ext cx="66677" cy="6667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12635" y="5571045"/>
            <a:ext cx="61602" cy="61602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6180" y="600414"/>
            <a:ext cx="42229" cy="42229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8305" y="2796346"/>
            <a:ext cx="58791" cy="5879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2327" y="6141863"/>
            <a:ext cx="27752" cy="27752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66068" y="3079054"/>
            <a:ext cx="31521" cy="3152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02896" y="5641875"/>
            <a:ext cx="54292" cy="54292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7167" y="5171748"/>
            <a:ext cx="68409" cy="68409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91503" y="1375161"/>
            <a:ext cx="59759" cy="5975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7833" y="5625671"/>
            <a:ext cx="37940" cy="37940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0273" y="679499"/>
            <a:ext cx="31172" cy="31172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16885" y="5394735"/>
            <a:ext cx="65985" cy="6598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96237" y="766533"/>
            <a:ext cx="40214" cy="40214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4766" y="2571117"/>
            <a:ext cx="37962" cy="37962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14693" y="1269375"/>
            <a:ext cx="34957" cy="3495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1867" y="970462"/>
            <a:ext cx="45875" cy="4587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14405" y="2921802"/>
            <a:ext cx="27818" cy="2781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78048" y="4848682"/>
            <a:ext cx="42875" cy="4287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37845" y="4256258"/>
            <a:ext cx="39682" cy="39682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61671" y="5693953"/>
            <a:ext cx="31221" cy="31221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20709" y="2264255"/>
            <a:ext cx="28781" cy="2878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17288" y="2699120"/>
            <a:ext cx="52117" cy="5211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70964" y="2962771"/>
            <a:ext cx="32931" cy="3293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56438" y="3422095"/>
            <a:ext cx="68873" cy="68873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13959" y="6205049"/>
            <a:ext cx="67938" cy="67938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14763" y="4634255"/>
            <a:ext cx="63427" cy="6342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57713" y="6341002"/>
            <a:ext cx="56471" cy="5647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20976" y="905645"/>
            <a:ext cx="71905" cy="71905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06829" y="2783607"/>
            <a:ext cx="61751" cy="6175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38294" y="3096176"/>
            <a:ext cx="67777" cy="6777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460" y="2650508"/>
            <a:ext cx="48779" cy="4877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0282" y="1373225"/>
            <a:ext cx="58380" cy="5838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91303" y="3593616"/>
            <a:ext cx="41829" cy="41829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679811" y="3514837"/>
            <a:ext cx="29040" cy="29040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08241" y="4365509"/>
            <a:ext cx="38077" cy="3807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0498" y="5852123"/>
            <a:ext cx="54828" cy="54828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17868" y="1517432"/>
            <a:ext cx="43168" cy="43168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45108" y="3835661"/>
            <a:ext cx="31320" cy="3132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48999" y="1946896"/>
            <a:ext cx="45813" cy="45813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59392" y="620695"/>
            <a:ext cx="30202" cy="30202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02720" y="3746079"/>
            <a:ext cx="68590" cy="6859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39928" y="1783936"/>
            <a:ext cx="45265" cy="4526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18142" y="4787024"/>
            <a:ext cx="66343" cy="66343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15480" y="2115563"/>
            <a:ext cx="43206" cy="43206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517042" y="3382043"/>
            <a:ext cx="37944" cy="3794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307879" y="6091620"/>
            <a:ext cx="44911" cy="4491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876506" y="2906515"/>
            <a:ext cx="31369" cy="31369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52824" y="4760017"/>
            <a:ext cx="54329" cy="5432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80443" y="2553282"/>
            <a:ext cx="42105" cy="4210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478919" y="4137733"/>
            <a:ext cx="63559" cy="6355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81672" y="3936657"/>
            <a:ext cx="33461" cy="3346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690874" y="4078011"/>
            <a:ext cx="42686" cy="42686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15838" y="3828017"/>
            <a:ext cx="33096" cy="33096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6707" y="4874364"/>
            <a:ext cx="51540" cy="51540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91011" y="2741007"/>
            <a:ext cx="31413" cy="31413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701024" y="5939768"/>
            <a:ext cx="61899" cy="6189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70409" y="5591937"/>
            <a:ext cx="47605" cy="4760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315255" y="2504669"/>
            <a:ext cx="38768" cy="38768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27597" y="2548186"/>
            <a:ext cx="43289" cy="4328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937177" y="4108178"/>
            <a:ext cx="52137" cy="5213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36085" y="1387798"/>
            <a:ext cx="49508" cy="49508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09316" y="3559271"/>
            <a:ext cx="53465" cy="53465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69492" y="4385484"/>
            <a:ext cx="49896" cy="4989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67262" y="3352794"/>
            <a:ext cx="48396" cy="4839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39302" y="1048222"/>
            <a:ext cx="31468" cy="31468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81114" y="4442658"/>
            <a:ext cx="71361" cy="7136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622546" y="474857"/>
            <a:ext cx="65910" cy="65910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110675" y="4921040"/>
            <a:ext cx="53498" cy="5349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65162" y="2298498"/>
            <a:ext cx="55573" cy="55573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995057" y="2659986"/>
            <a:ext cx="41091" cy="4109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16554" y="1309325"/>
            <a:ext cx="58594" cy="5859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35397" y="1915405"/>
            <a:ext cx="33012" cy="33012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57274" y="1983381"/>
            <a:ext cx="50139" cy="50139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70700" y="6062676"/>
            <a:ext cx="31518" cy="31518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84939" y="1312179"/>
            <a:ext cx="34157" cy="34157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43598" y="2407444"/>
            <a:ext cx="32093" cy="32093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66233" y="5312694"/>
            <a:ext cx="48467" cy="48467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327547" y="4451219"/>
            <a:ext cx="43769" cy="4376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147148" y="1950973"/>
            <a:ext cx="63154" cy="63154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16913" y="3021779"/>
            <a:ext cx="48484" cy="4848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062" y="3407726"/>
            <a:ext cx="46608" cy="46608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61046" y="4576369"/>
            <a:ext cx="36641" cy="3664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295219" y="3152330"/>
            <a:ext cx="62047" cy="6204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802524" y="2144099"/>
            <a:ext cx="27433" cy="27433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478409" y="2358831"/>
            <a:ext cx="28756" cy="28756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35551" y="3723148"/>
            <a:ext cx="28197" cy="2819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62412" y="4622739"/>
            <a:ext cx="62445" cy="6244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713000" y="5204360"/>
            <a:ext cx="69977" cy="69977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310391" y="2753033"/>
            <a:ext cx="68853" cy="68853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208487" y="2918846"/>
            <a:ext cx="44964" cy="4496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637297" y="5188156"/>
            <a:ext cx="53624" cy="53624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533497" y="4204384"/>
            <a:ext cx="31616" cy="31616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13229" y="994820"/>
            <a:ext cx="51189" cy="51189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785701" y="6272618"/>
            <a:ext cx="55898" cy="55898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997990" y="6096002"/>
            <a:ext cx="38406" cy="38406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11037" y="2813060"/>
            <a:ext cx="65881" cy="65881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51331" y="532947"/>
            <a:ext cx="61559" cy="6155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117629" y="503087"/>
            <a:ext cx="28263" cy="28263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274392" y="6392367"/>
            <a:ext cx="28080" cy="2808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927309" y="3818743"/>
            <a:ext cx="55367" cy="5536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064895" y="3275238"/>
            <a:ext cx="31666" cy="31666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917053" y="3807940"/>
            <a:ext cx="59705" cy="5970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1627392" y="2261605"/>
            <a:ext cx="67801" cy="6780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374188" y="544056"/>
            <a:ext cx="33376" cy="33376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52782" y="4965780"/>
            <a:ext cx="54077" cy="5407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724063" y="5767534"/>
            <a:ext cx="37902" cy="37902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217987" y="2215540"/>
            <a:ext cx="63872" cy="63872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754057" y="1941087"/>
            <a:ext cx="41676" cy="41676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631080" y="468130"/>
            <a:ext cx="41870" cy="41870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010053" y="6308492"/>
            <a:ext cx="62195" cy="62195"/>
          </a:xfrm>
          <a:prstGeom prst="ellipse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534638" y="4639861"/>
            <a:ext cx="52981" cy="5298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641564" y="2212993"/>
            <a:ext cx="64464" cy="6446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043506" y="4898110"/>
            <a:ext cx="58825" cy="58825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987647" y="5137301"/>
            <a:ext cx="72753" cy="72753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169275" y="3077322"/>
            <a:ext cx="44725" cy="4472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11465" y="1946794"/>
            <a:ext cx="38521" cy="38521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526842" y="1452208"/>
            <a:ext cx="40032" cy="40032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07332" y="1079917"/>
            <a:ext cx="58852" cy="58852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27692" y="1416946"/>
            <a:ext cx="31765" cy="31765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445343" y="3490581"/>
            <a:ext cx="31017" cy="3101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1069496" y="6126780"/>
            <a:ext cx="45887" cy="45887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05944" y="1327364"/>
            <a:ext cx="69034" cy="69034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036272" y="3327621"/>
            <a:ext cx="30469" cy="30469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028246" y="4349509"/>
            <a:ext cx="36307" cy="3630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418704" y="5640448"/>
            <a:ext cx="43651" cy="4365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713386" y="4925728"/>
            <a:ext cx="68868" cy="6886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797343" y="5654105"/>
            <a:ext cx="60595" cy="6059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779730" y="487800"/>
            <a:ext cx="31814" cy="3181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1769808" y="6303702"/>
            <a:ext cx="39533" cy="39533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790547" y="2115767"/>
            <a:ext cx="57789" cy="5778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61503" y="1719018"/>
            <a:ext cx="64004" cy="64004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78016" y="5480342"/>
            <a:ext cx="64385" cy="6438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VEDA 4기 · 프로젝트 결과보고서</a:t>
            </a:r>
            <a:endParaRPr lang="en-US" sz="1300" dirty="0"/>
          </a:p>
        </p:txBody>
      </p:sp>
      <p:sp>
        <p:nvSpPr>
          <p:cNvPr id="154" name="Text 152"/>
          <p:cNvSpPr/>
          <p:nvPr/>
        </p:nvSpPr>
        <p:spPr>
          <a:xfrm>
            <a:off x="91440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SPATIAL·VMS</a:t>
            </a:r>
            <a:endParaRPr lang="en-US" sz="5200" dirty="0"/>
          </a:p>
        </p:txBody>
      </p:sp>
      <p:sp>
        <p:nvSpPr>
          <p:cNvPr id="155" name="Text 153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타깃리스 Camera–LiDAR 캘리브레이션 킷 관제 콘솔</a:t>
            </a:r>
            <a:endParaRPr lang="en-US" sz="1800" dirty="0"/>
          </a:p>
        </p:txBody>
      </p:sp>
      <p:sp>
        <p:nvSpPr>
          <p:cNvPr id="156" name="Shape 154"/>
          <p:cNvSpPr/>
          <p:nvPr/>
        </p:nvSpPr>
        <p:spPr>
          <a:xfrm>
            <a:off x="914400" y="3429000"/>
            <a:ext cx="1463040" cy="18288"/>
          </a:xfrm>
          <a:prstGeom prst="rect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144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 Oppenheimer</a:t>
            </a:r>
            <a:endParaRPr lang="en-US" sz="2000" dirty="0"/>
          </a:p>
        </p:txBody>
      </p:sp>
      <p:sp>
        <p:nvSpPr>
          <p:cNvPr id="158" name="Text 156"/>
          <p:cNvSpPr/>
          <p:nvPr/>
        </p:nvSpPr>
        <p:spPr>
          <a:xfrm>
            <a:off x="914400" y="4206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송영빈 · 김○○ · 박○○ · 최○○ · 정○○</a:t>
            </a:r>
            <a:endParaRPr lang="en-US" sz="1400" dirty="0"/>
          </a:p>
        </p:txBody>
      </p:sp>
      <p:sp>
        <p:nvSpPr>
          <p:cNvPr id="159" name="Text 157"/>
          <p:cNvSpPr/>
          <p:nvPr/>
        </p:nvSpPr>
        <p:spPr>
          <a:xfrm>
            <a:off x="914400" y="4526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[멘토] ○○○</a:t>
            </a:r>
            <a:endParaRPr lang="en-US" sz="1400" dirty="0"/>
          </a:p>
        </p:txBody>
      </p:sp>
      <p:sp>
        <p:nvSpPr>
          <p:cNvPr id="160" name="Text 158"/>
          <p:cNvSpPr/>
          <p:nvPr/>
        </p:nvSpPr>
        <p:spPr>
          <a:xfrm>
            <a:off x="91440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08.   |   github.com/VEDA-4th-Oppenheimer/QT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결과보고서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325880"/>
            <a:ext cx="7434072" cy="822960"/>
          </a:xfrm>
          <a:prstGeom prst="roundRect">
            <a:avLst>
              <a:gd name="adj" fmla="val 5556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1540764"/>
            <a:ext cx="393192" cy="39319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5407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1463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4920" y="17830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주제·배경, 구현 내용, 개발환경, 시스템 구조, 기대 효과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7434072" cy="822960"/>
          </a:xfrm>
          <a:prstGeom prst="roundRect">
            <a:avLst>
              <a:gd name="adj" fmla="val 5556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500884"/>
            <a:ext cx="393192" cy="39319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50088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423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2743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파트별 담당 업무와 멘토 지원 내역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3246120"/>
            <a:ext cx="7434072" cy="822960"/>
          </a:xfrm>
          <a:prstGeom prst="roundRect">
            <a:avLst>
              <a:gd name="adj" fmla="val 5556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461004"/>
            <a:ext cx="393192" cy="39319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46100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383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703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기획 → 수행 → 완료, 기간별 활동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4206240"/>
            <a:ext cx="7434072" cy="822960"/>
          </a:xfrm>
          <a:prstGeom prst="roundRect">
            <a:avLst>
              <a:gd name="adj" fmla="val 5556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4421124"/>
            <a:ext cx="393192" cy="39319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42112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4343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4920" y="4663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계층·관제 UI·점군 시각화·보안/배포·피드백 반영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5166360"/>
            <a:ext cx="7434072" cy="822960"/>
          </a:xfrm>
          <a:prstGeom prst="roundRect">
            <a:avLst>
              <a:gd name="adj" fmla="val 5556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5381244"/>
            <a:ext cx="393192" cy="39319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53812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53035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74920" y="5623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완성도 평가, 잘한 점과 아쉬운 점, 개선 방향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프로젝트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주제 및 선정 배경 · 기획 의도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4415" cy="1234440"/>
          </a:xfrm>
          <a:prstGeom prst="roundRect">
            <a:avLst>
              <a:gd name="adj" fmla="val 3704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6304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멀티센서 CCTV(Hanwha PNM-C16083RVQ)와 1D LiDAR 팬틸트 스캐너(TOFSense-F2D)를 묶어,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체커보드 같은 표적 없이(targetless) 카메라–LiDAR 외부 파라미터를 산출하는 킷과 그 킷을 운용하는 관제 콘솔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배경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3557016" cy="2103120"/>
          </a:xfrm>
          <a:prstGeom prst="roundRect">
            <a:avLst>
              <a:gd name="adj" fmla="val 2174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246120"/>
            <a:ext cx="365760" cy="36576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3730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캘리브레이션이 사람 손에 묶여 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42245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체커보드·타깃을 현장에 설치하고 옮겨가며 찍어야 한다. 천장에 이미 설치된 CCTV는 재캘리브 자체가 사실상 불가능하다.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06824" y="2999232"/>
            <a:ext cx="3557016" cy="2103120"/>
          </a:xfrm>
          <a:prstGeom prst="roundRect">
            <a:avLst>
              <a:gd name="adj" fmla="val 2174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3246120"/>
            <a:ext cx="365760" cy="36576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2856" y="3730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 좌표가 없다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2856" y="42245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화면만으로는 '무엇이' 보일 뿐 '어디에서'를 모른다. LiDAR 로 뜬 공간 좌표와 영상이 맞물려야 위치를 말할 수 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2999232"/>
            <a:ext cx="3557016" cy="2103120"/>
          </a:xfrm>
          <a:prstGeom prst="roundRect">
            <a:avLst>
              <a:gd name="adj" fmla="val 2174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3246120"/>
            <a:ext cx="365760" cy="36576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3730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남는 도구가 없다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2245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캘리브 스크립트는 개발자 PC 안에만 있다. 설치 기사가 스캔을 돌리고 결과를 눈으로 확인할 화면이 필요했다.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285232"/>
            <a:ext cx="11094415" cy="932688"/>
          </a:xfrm>
          <a:prstGeom prst="roundRect">
            <a:avLst>
              <a:gd name="adj" fmla="val 4902"/>
            </a:avLst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68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544068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스캐너 킷과 관제 UI 를 한 세트로 만든다. 설치자가 앱 하나로 스캔을 걸고, 진행률과 장비 상태를 보고, 위험하면 즉시 멈추고,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점군을 그 자리에서 확인할 수 있게 하는 것이 이 프로젝트(Qt 파트)의 목표다.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프로젝트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특화 포인트 · 기존 유사 서비스와의 차별점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7850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일반적인 방식 / 기존 도구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SPATIAL·VMS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캘리브 방식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체커보드·전용 타깃을 설치하고 사람이 위치를 옮겨가며 촬영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공간 구조물의 에지를 그대로 쓰는 타깃리스 방식 — 설치 인력 불필요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확인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터미널 로그와 파일. 현장에서는 성공 여부조차 알기 어렵다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UI 에서 진행률 2Hz, 스캔 종료 즉시 Top-View·3D 점군 표시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 통신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SSH 접속 후 스크립트 실행, 결과 파일 수동 복사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MQTT 인터페이스 계약(토픽·페이로드·QoS·retain) 기반 자동 연동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평문 통신, 설정 파일에 계정 정보 상주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mTLS 8883 + 인증서 CN 기반 ACL, 1회용 토큰 등록으로 자격 자동 발급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Qt·FFmpeg·Paho 를 설치해야 실행 가능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의존성 전부 번들링한 .dmg / .zip — 받아서 바로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94415" cy="1143000"/>
          </a:xfrm>
          <a:prstGeom prst="roundRect">
            <a:avLst>
              <a:gd name="adj" fmla="val 4000"/>
            </a:avLst>
          </a:prstGeom>
          <a:solidFill>
            <a:srgbClr val="12181D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212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03120" y="5193792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“타깃 없이 스캔하고, 계약대로 말하고, 설치 없이 배포한다.”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캘리브 알고리즘 자체보다 현장에서 그것을 돌릴 수 있게 만드는 운용 도구가 이 프로젝트의 차별점이다.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프로젝트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구현 내용 · 훈련 내용과의 연관성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57016" cy="1645920"/>
          </a:xfrm>
          <a:prstGeom prst="roundRect">
            <a:avLst>
              <a:gd name="adj" fmla="val 277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91056"/>
            <a:ext cx="347472" cy="34747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25296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4채널 CCTV 실시간 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0574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멀티센서 카메라의 센서 0~3 을 CH1~CH4 로 직접 RTSP 연결. FFmpeg 로 채널별 백그라운드 디코딩.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371600"/>
            <a:ext cx="3557016" cy="1645920"/>
          </a:xfrm>
          <a:prstGeom prst="roundRect">
            <a:avLst>
              <a:gd name="adj" fmla="val 277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591056"/>
            <a:ext cx="347472" cy="34747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스캐너 제어 · 안전정지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44568" y="20574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SCAN / STOP / HOME / DISARM / REARM. DISARM 은 상태와 무관하게 항상 눌린다(비상정지).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371600"/>
            <a:ext cx="3557016" cy="1645920"/>
          </a:xfrm>
          <a:prstGeom prst="roundRect">
            <a:avLst>
              <a:gd name="adj" fmla="val 277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591056"/>
            <a:ext cx="347472" cy="34747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41664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· IMU 모니터링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02752" y="20574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데몬 FSM, 링크, IMU 수평각을 상시 표시. 미수신과 '0.0° 정상' 을 구분해서 그린다.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3557016" cy="1645920"/>
          </a:xfrm>
          <a:prstGeom prst="roundRect">
            <a:avLst>
              <a:gd name="adj" fmla="val 277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374136"/>
            <a:ext cx="347472" cy="34747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25296" y="3410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점군 시각화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384048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종료 즉시 .pcd 를 받아 Top-View 평면 투영과 3D 뷰로 표시. 높이로 색을 칠한다.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06824" y="3154680"/>
            <a:ext cx="3557016" cy="1645920"/>
          </a:xfrm>
          <a:prstGeom prst="roundRect">
            <a:avLst>
              <a:gd name="adj" fmla="val 277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3374136"/>
            <a:ext cx="347472" cy="34747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410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마법사 · 보안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44568" y="384048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1회용 토큰 하나로 인증서·브로커·카메라 설정을 받아 mTLS 접속까지 자동 구성.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5008" y="3154680"/>
            <a:ext cx="3557016" cy="1645920"/>
          </a:xfrm>
          <a:prstGeom prst="roundRect">
            <a:avLst>
              <a:gd name="adj" fmla="val 277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3374136"/>
            <a:ext cx="347472" cy="347472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41664" y="3410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모드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02752" y="384048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실장비 없이도 실제 세션 흐름(SCAN→진행률→EXPORT→IDLE)과 IMU 드리프트를 재생.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11094415" cy="1097280"/>
          </a:xfrm>
          <a:prstGeom prst="roundRect">
            <a:avLst>
              <a:gd name="adj" fmla="val 4167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248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 내용과의 연관성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555955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C++17 · Qt6 GUI 프로그래밍  ·  멀티스레드/동기화(채널별 디코딩 스레드)  ·  소켓·TLS 네트워크 프로그래밍(mTLS, HTTPS)  ·  임베디드 장비 연동(MQTT–UART–STM32)  ·  OpenGL 렌더링  ·  CMake 빌드/배포 자동화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프로젝트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장비 및 재료 · 개발 환경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57016" cy="3977640"/>
          </a:xfrm>
          <a:prstGeom prst="roundRect">
            <a:avLst>
              <a:gd name="adj" fmla="val 128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27632"/>
            <a:ext cx="146304" cy="146304"/>
          </a:xfrm>
          <a:prstGeom prst="rect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0116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Hanwha Vision PNM-C16083RVQ — 4MP × 4채널 멀티센서 CCTV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TOFSense-F2D — 1D LiDAR 거리 센서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팬틸트 구동부 — STM32 펌웨어가 2축 제어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— 설치 수평 감시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— 통합 데몬 + Mosquitto 브로커 상주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 PC — macOS / Windows 11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371600"/>
            <a:ext cx="3557016" cy="3977640"/>
          </a:xfrm>
          <a:prstGeom prst="roundRect">
            <a:avLst>
              <a:gd name="adj" fmla="val 128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1627632"/>
            <a:ext cx="146304" cy="146304"/>
          </a:xfrm>
          <a:prstGeom prst="rect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· 라이브러리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856" y="20116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Qt 6 (Widgets / Network / OpenGLWidgets)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C++17, CMake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FFmpeg — libavformat / libavcodec / libswscale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Eclipse Paho MQTT C++ · Mosquitto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OpenSSL — mTLS, 사설 CA 체인 검증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/ GitHub (VEDA-4th-Oppenheimer/QT)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5008" y="1371600"/>
            <a:ext cx="3557016" cy="3977640"/>
          </a:xfrm>
          <a:prstGeom prst="roundRect">
            <a:avLst>
              <a:gd name="adj" fmla="val 128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1627632"/>
            <a:ext cx="146304" cy="146304"/>
          </a:xfrm>
          <a:prstGeom prst="rect">
            <a:avLst/>
          </a:prstGeom>
          <a:solidFill>
            <a:srgbClr val="E2A33C"/>
          </a:solidFill>
          <a:ln w="12700">
            <a:solidFill>
              <a:srgbClr val="E2A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· 검증 환경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20116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macOS — Homebrew(Qt 6.11 / FFmpeg 8.1 / OpenSSL 3.6)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11 — vcpkg + Visual Studio 2022 (MSVC x64)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결과: .app / .dmg, .exe / .zip 이중 배포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분석 — clang-format / clang-tidy 설정 동봉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실장비 검증 — RPi 브로커 mTLS 8883 실연동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부재 시 — 앱 내장 데모 모드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5882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687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규모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40280" y="5687568"/>
            <a:ext cx="9174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Qt 저장소 커밋 52건 (2026-08-03 ~ 08-19)   |   src/ C++ 소스 5,839 라인 · 클래스 20여 개   |   macOS 번들 115MB / DMG 52MB · Windows zip 배포본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프로젝트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구조 — 시스템 아키텍처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3383280"/>
          </a:xfrm>
          <a:prstGeom prst="roundRect">
            <a:avLst>
              <a:gd name="adj" fmla="val 1563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727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장비 (카메라)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2011680"/>
            <a:ext cx="248716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Hanwha PNM-C16083RVQ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0~3 → CH1~CH4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H.264 서브스트림(profile2)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RPi 를 경유하지 않는다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3108960" cy="3383280"/>
          </a:xfrm>
          <a:prstGeom prst="roundRect">
            <a:avLst>
              <a:gd name="adj" fmla="val 1471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57276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 콘솔 (본 저장소)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91456" y="2011680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Qt6 Widgets · 5개 탭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RtspDecoder — 채널별 디코딩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MqttBridge / DemoBridge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ScanFetcher · ScanCloud · 3D 뷰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EnrollDialog — 등록/인증서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78240" y="1371600"/>
            <a:ext cx="2862072" cy="3383280"/>
          </a:xfrm>
          <a:prstGeom prst="roundRect">
            <a:avLst>
              <a:gd name="adj" fmla="val 159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79408" y="157276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97696" y="20116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Mosquitto 브로커 (8883/mTLS)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데몬 — FSM·IMU·스캔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발급 서비스 (8443)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POST /enroll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GET /scan/&lt;파일&gt;.pcd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2834640"/>
            <a:ext cx="100584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465576" y="233172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RTSP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554/TCP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26680" y="2377440"/>
            <a:ext cx="100584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671816" y="187452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8883 mTLS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26680" y="3931920"/>
            <a:ext cx="100584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71816" y="34290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8443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78240" y="5029200"/>
            <a:ext cx="2862072" cy="1280160"/>
          </a:xfrm>
          <a:prstGeom prst="roundRect">
            <a:avLst>
              <a:gd name="adj" fmla="val 3571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79408" y="5193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팬틸트 · LiDAR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79408" y="55046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STM32 펌웨어 (UART) — 2축 구동,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TOFSense-F2D 거리 측정 · 진단 카운터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204704" y="4754880"/>
            <a:ext cx="0" cy="274320"/>
          </a:xfrm>
          <a:prstGeom prst="line">
            <a:avLst/>
          </a:prstGeom>
          <a:noFill/>
          <a:ln w="19050">
            <a:solidFill>
              <a:srgbClr val="4BBD85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5029200"/>
            <a:ext cx="7726680" cy="1280160"/>
          </a:xfrm>
          <a:prstGeom prst="roundRect">
            <a:avLst>
              <a:gd name="adj" fmla="val 3571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Qt 내부 계층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504688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탭(대시보드·CALIBRATION·DEVICES/MQTT·EVENT LOG·SETTINGS)  →  DataBridge 인터페이스  →  MqttBridge(실장비) / DemoBridge(데모)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영상은 이 경로와 분리되어 RtspDecoder 가 직접 카메라에 붙는다. 설정 탐색은 ConfigPath 가 개발 트리 → 사용자 데이터 순으로 해석한다.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프로젝트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방안 및 기대 효과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9824" cy="1463040"/>
          </a:xfrm>
          <a:prstGeom prst="roundRect">
            <a:avLst>
              <a:gd name="adj" fmla="val 312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45920"/>
            <a:ext cx="128016" cy="128016"/>
          </a:xfrm>
          <a:prstGeom prst="rect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91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설치·유지보수 공수 절감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011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 설치와 재캘리브에 들어가던 인력·시간을 스캔 한 번으로 대체한다. 천장에 이미 달린 카메라도 내리지 않고 다시 맞출 수 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0488" y="1371600"/>
            <a:ext cx="5449824" cy="1463040"/>
          </a:xfrm>
          <a:prstGeom prst="roundRect">
            <a:avLst>
              <a:gd name="adj" fmla="val 312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645920"/>
            <a:ext cx="128016" cy="128016"/>
          </a:xfrm>
          <a:prstGeom prst="rect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591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좌표를 가진 영상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검지 이벤트를 평면 좌표로 옮길 수 있다. 사고 위치 특정, AMR·로봇의 주행 지도 정합, 디지털 트윈 초기 측량에 그대로 쓰인다.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449824" cy="1463040"/>
          </a:xfrm>
          <a:prstGeom prst="roundRect">
            <a:avLst>
              <a:gd name="adj" fmla="val 312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246120"/>
            <a:ext cx="128016" cy="128016"/>
          </a:xfrm>
          <a:prstGeom prst="rect">
            <a:avLst/>
          </a:prstGeom>
          <a:solidFill>
            <a:srgbClr val="E2A33C"/>
          </a:solidFill>
          <a:ln w="12700">
            <a:solidFill>
              <a:srgbClr val="E2A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1912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 가능한 관제 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611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가 장비가 아니라 MQTT 계약에 묶여 있어, 킷이 바뀌어도 계약만 맞추면 화면은 그대로 재사용된다.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2971800"/>
            <a:ext cx="5449824" cy="1463040"/>
          </a:xfrm>
          <a:prstGeom prst="roundRect">
            <a:avLst>
              <a:gd name="adj" fmla="val 312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3246120"/>
            <a:ext cx="128016" cy="128016"/>
          </a:xfrm>
          <a:prstGeom prst="rect">
            <a:avLst/>
          </a:prstGeom>
          <a:solidFill>
            <a:srgbClr val="FFA766"/>
          </a:solidFill>
          <a:ln w="12700">
            <a:solidFill>
              <a:srgbClr val="FFA7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31912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 가능한 완성품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3611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없이 실행되는 배포본과 1회용 토큰 등록 절차까지 갖춰, 설치 기사에게 그대로 넘길 수 있는 형태로 만들었다.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3125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후보 도메인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285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물류창고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577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 공간 측량·안전 구역 감시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5285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5577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위치 좌표화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5285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안전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5577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 접근 구역 판정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0" y="5285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점검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5577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형상 변화 추적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프로젝트 팀 구성 및 역할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훈련생별 주도 참여 영역 · 멘토 지원 내역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6428232"/>
                <a:gridCol w="1374343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훈련생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업무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저장소 커밋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송영빈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 / Qt 파트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콘솔 전담 — UI 5탭 설계·구현, MQTT 브리지, RTSP 디코딩, 스캔 점군 Top-View·3D, 등록 마법사와 mTLS, macOS/Windows 패키징, README 문서화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○○○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(mainvoid00)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데몬 프로토콜 v6 반영(STM 진단 카운터·오류 축 표기), 센서 높이 실측값 반영, 데모 오류코드를 실물 데몬과 일치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이현우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 / 데몬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RPi 통합 데몬 구현, MQTT 인터페이스 계약서 v1.0 작성, 스캔 FSM·IMU 처리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(타 저장소)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이광진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 / 인프라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Mosquitto 브로커 구성, 사설 CA·인증서 발급 서비스, CN 기반 ACL 설계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(타 저장소)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이영민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 / 캘리브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단 자동 캘리브레이션(NCC · edge_rmse · extrinsic) 설계 및 구현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(타 저장소)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○○○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멘토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 선정 피드백, 아키텍처 리뷰, 인터페이스 계약 정합성 질의응답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250"/>
            </a:avLst>
          </a:prstGeom>
          <a:solidFill>
            <a:srgbClr val="12181D"/>
          </a:solidFill>
          <a:ln w="12700">
            <a:solidFill>
              <a:srgbClr val="E2A3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64184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커밋 수는 본 Qt 저장소 기준(총 52건). 데몬·브로커·캘리브 파트는 별도 저장소에 있어 여기에 집계되지 않는다. 표의 ○○○ 는 실제 명단 확인 후 채울 것.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프로젝트 수행 절차 및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기획 → 수행 → 완료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5216" y="1280160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89888"/>
            <a:ext cx="274320" cy="27432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1719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76856" y="1536192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280160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389888"/>
            <a:ext cx="274320" cy="27432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719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· 인터페이스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확정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42232" y="1536192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15968" y="1280160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3984" y="1389888"/>
            <a:ext cx="274320" cy="27432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719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설계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07608" y="1536192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1344" y="1280160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389888"/>
            <a:ext cx="274320" cy="27432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1719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파트별 개발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72984" y="1536192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46720" y="1280160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1389888"/>
            <a:ext cx="274320" cy="27432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736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1719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실장비 통합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38360" y="1536192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12096" y="1280160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1389888"/>
            <a:ext cx="274320" cy="274320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40112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03536" y="1719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· 패키징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보고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5150815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활동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및 기획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○/○(월) ~ ○/○(금)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 선정, 유사 사례 조사, 요구사항 정리, 파트 분담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아이디어 선정 · 일자 확인 필요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아키텍처 설계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○/○(월) ~ 8/2(일)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구성도 확정, MQTT 인터페이스 계약 v1.0 (토픽·페이로드·QoS·retain) 서명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 문서 기준 개발 착수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 개발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8/3(월) ~ 8/14(금)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Qt 대시보드·MQTT 계층·RTSP 수신·점군 뷰·등록 마법사·패키징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커밋 46건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및 테스트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8/5(수) ~ 8/19(수)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실장비 mTLS 연동, 배포본 타 PC 실행 검증, 데몬 프로토콜 v6 반영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커밋 6건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개발기간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○/○(월) ~ ○/○(금) (총 7주)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 2주 + 설계 1주 + 개발/통합 3주 + 정리 1주 (초안)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일정 확인 필요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5882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" y="5715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방식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2011680" y="5715000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우선(contract-first) — 파트 간 인터페이스를 문서로 먼저 고정하고 각자 구현   |   GitHub 파트별 저장소 + main 브랜치 통합   |   변경 사유를 커밋 메시지와 README 에 남겨 추적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프로젝트 수행 경과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제시 ①  계약 기반 MQTT 통신 계층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58000" cy="3611880"/>
          </a:xfrm>
          <a:prstGeom prst="roundRect">
            <a:avLst>
              <a:gd name="adj" fmla="val 1266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구현한 토픽 (실제 운용 기준)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10512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822960"/>
                <a:gridCol w="6400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QoS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A7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Retain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adts/cmd/scan · stop · home · disarm · rearm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adts/state/daemon  (FSM·링크·IMU·STM 진단)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adts/state/scan  (스캔 결과 .pcd 경로)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adts/event/progress  (진행률 ~2Hz)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아니오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adts/event/error  (오류코드·메시지·축)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4E9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아니오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343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req_id 를 명령마다 생성하고, 자신이 보낸 req_id 가 아닌 응답은 무시한다 (계약 §4)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LWT 를 걸어 데몬이 죽으면 state:"OFFLINE" 이 즉시 도착한다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80960" y="1325880"/>
            <a:ext cx="3959352" cy="3611880"/>
          </a:xfrm>
          <a:prstGeom prst="roundRect">
            <a:avLst>
              <a:gd name="adj" fmla="val 1266"/>
            </a:avLst>
          </a:prstGeom>
          <a:solidFill>
            <a:srgbClr val="12181D"/>
          </a:solidFill>
          <a:ln w="12700">
            <a:solidFill>
              <a:srgbClr val="E057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0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해결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09560" y="182880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계약서 v1.0 은 토픽에 kit1 세그먼트를 넣지만, RPi 데몬 실구현에는 그 세그먼트가 없었다. 문서대로 짜면 브로커에 붙어도 명령이 한 건도 전달되지 않는다.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88036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실구현(daemon/modules/mqtt) 기준으로 토픽 상수를 정렬하고, 계약서와 어긋난 지점을 README 에 경고로 명시해 재확정 시 함께 고치도록 남겼다.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09560" y="39319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커밋: “Rewrite MQTT layer against MQTT_INTERFACE_CONTRACT.md v1.0” → “Align MQTT layer to RPi develop branch's real daemon implementation”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11094415" cy="1207008"/>
          </a:xfrm>
          <a:prstGeom prst="roundRect">
            <a:avLst>
              <a:gd name="adj" fmla="val 3788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285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방법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5778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mosquitto_sub 로 브로커에서 토픽을 직접 확인해 발행/수신 구간을 분리   ② state/daemon 의 online 플래그로 브로커 정상·데몬 사망을 구분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데모 브리지로 전체 세션 흐름을 장비 없이 재생해 UI 반응 검증   ④ 실장비 mTLS 8883 연동으로 하트비트·IMU 수신 확인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프로젝트 수행 경과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제시 ②  관제 UI 구성과 조작 안전성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035040" cy="841248"/>
          </a:xfrm>
          <a:prstGeom prst="roundRect">
            <a:avLst>
              <a:gd name="adj" fmla="val 543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53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7282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 CCTV 4채널 / 우 Top-View. 경계 드래그로 비율 조정, Top-View 는 별도 창으로 분리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6035040" cy="841248"/>
          </a:xfrm>
          <a:prstGeom prst="roundRect">
            <a:avLst>
              <a:gd name="adj" fmla="val 543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파라미터(팬·틸트 범위, 스텝, 센서 높이) 입력과 실행. 센서 높이 기본값은 실측 1805mm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6035040" cy="841248"/>
          </a:xfrm>
          <a:prstGeom prst="roundRect">
            <a:avLst>
              <a:gd name="adj" fmla="val 543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DEVICES / MQTT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6667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브로커 접속 상태와 토픽 표를 그대로 노출해 현장에서 통신 구간을 눈으로 확인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6035040" cy="841248"/>
          </a:xfrm>
          <a:prstGeom prst="roundRect">
            <a:avLst>
              <a:gd name="adj" fmla="val 543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61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 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6360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오류코드·메시지·발생 축을 시간순으로. 최대 1,000행 유지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6035040" cy="841248"/>
          </a:xfrm>
          <a:prstGeom prst="roundRect">
            <a:avLst>
              <a:gd name="adj" fmla="val 543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330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SETTINGS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6052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메뉴에 흩어져 있던 항목(테마·데모·카메라·센서 높이)을 값과 함께 한 화면에 모음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1325880"/>
            <a:ext cx="4782312" cy="2331720"/>
          </a:xfrm>
          <a:prstGeom prst="roundRect">
            <a:avLst>
              <a:gd name="adj" fmla="val 1961"/>
            </a:avLst>
          </a:prstGeom>
          <a:solidFill>
            <a:srgbClr val="12181D"/>
          </a:solidFill>
          <a:ln w="12700">
            <a:solidFill>
              <a:srgbClr val="E057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0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안전성 설계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86600" y="1828800"/>
            <a:ext cx="4325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활성화는 계약 §5 의 상태–버튼 매핑을 그대로 따른다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DISARM 만 상태와 무관하게 항상 활성 — 비상정지는 조건이 붙으면 안 된다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종료 후 데몬이 스스로 DISARM 으로 내려가므로, HOME 버튼이 REARM 으로 바뀌어 cmd/rearm 을 발행한다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미수신을 '수평 정상 0.0°' 로 그리던 버그 수정 — 모르는 값을 정상으로 표시하지 않는다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3794760"/>
            <a:ext cx="4782312" cy="2377440"/>
          </a:xfrm>
          <a:prstGeom prst="roundRect">
            <a:avLst>
              <a:gd name="adj" fmla="val 1923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개선 이력 (커밋 기준)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86600" y="4297680"/>
            <a:ext cx="4325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관제실 다크 테마 토큰화(Theme.h) + 라이트 테마 동시 지원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좁은 화면에서 Top-View 하단 통계바가 잘리던 문제 수정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DEVICES/MQTT 토픽 표가 마지막 행을 빠뜨리던 off-by-one 수정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않던 RGB-D DATASET 탭 제거, IMU 센서 모델명 노출 제거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항목을 SETTINGS 탭으로 이관 — 값과 조작을 같은 화면에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프로젝트 수행 경과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제시 ③  스캔 포인트클라우드 시각화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81328"/>
            <a:ext cx="310896" cy="310896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state/scan 수신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157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.pcd 파일 경로만 전달된다 (점 데이터 없음)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2011680"/>
            <a:ext cx="18288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74136" y="132588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5304" y="1481328"/>
            <a:ext cx="310896" cy="310896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5304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ScanFetcher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75304" y="2157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scans/ 조회 → 없으면 HTTPS 8443 GET /scan/&lt;파일명&gt;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98464" y="2011680"/>
            <a:ext cx="18288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132588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481328"/>
            <a:ext cx="310896" cy="310896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ScanCloud 파싱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2157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ASCII PCD + binary PCD 파싱, 좌표계 변환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23960" y="2011680"/>
            <a:ext cx="18288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25128" y="132588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26296" y="1481328"/>
            <a:ext cx="310896" cy="310896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26296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26296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Top-View / 3D 렌더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26296" y="2157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 (x, z) 투영 · QOpenGLWidget 포인트 스프라이트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2880360"/>
            <a:ext cx="5486400" cy="2148840"/>
          </a:xfrm>
          <a:prstGeom prst="roundRect">
            <a:avLst>
              <a:gd name="adj" fmla="val 212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렌더링 규칙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33832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색은 높이로 칠한다 — 낮음 짙은 청색, 높음 밝은 난색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상태색(Ok/Warn/Danger)과 일부러 다른 계열: '초록 점 = 정상' 으로 오독되면 안 된다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스캔이 방보다 넓게 찍히면 뷰가 자동 확대되고 스케일 바에 VIEW 로 표기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PCD 원본은 +x 오른쪽 / +y 아래 / +z 전방 → Top-View 는 (x, z) 투영, 높이는 화면 관례에 맞춰 부호 반전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2880360"/>
            <a:ext cx="5376672" cy="2148840"/>
          </a:xfrm>
          <a:prstGeom prst="roundRect">
            <a:avLst>
              <a:gd name="adj" fmla="val 2128"/>
            </a:avLst>
          </a:prstGeom>
          <a:solidFill>
            <a:srgbClr val="12181D"/>
          </a:solidFill>
          <a:ln w="12700">
            <a:solidFill>
              <a:srgbClr val="E057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0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해결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92240" y="3383280"/>
            <a:ext cx="4919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파일을 8443 으로 받아오는 요청이 계속 깨졌다. 브로커(8883)는 붙는데 스캔만 안 오는 모습이라 원인이 잘 보이지 않았다. RPi 서버 인증서 SAN 에 발급 당시 IP 만 들어 있어, DHCP 로 주소가 바뀌자 QSslSocket 의 호스트명 검증에서 걸린 것이었다.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438912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mqtt.json 에 server_name 을 두어 검증할 호스트명만 인증서상의 이름으로 맞추고, 사설 CA 체인 검증과 mTLS 는 그대로 유지했다. 실패 사유별 대처를 README 표로 정리.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1094415" cy="96012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E2A3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376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고려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286000" y="5349240"/>
            <a:ext cx="9082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인증서를 발급하는 서비스에 파일 경로를 여는 일이라 세 겹으로 제한했다 — ① 검증된 클라이언트 인증서 필수(SSL_get_verify_result 를 핸들러에서 직접 확인)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파일명만 허용('/' 나 '%' 가 있으면 400, 디렉터리는 고정)   ③ .pcd 확장자만 허용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프로젝트 수행 경과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제시 ④  배포용 등록 절차와 보안 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4415" cy="1234440"/>
          </a:xfrm>
          <a:prstGeom prst="roundRect">
            <a:avLst>
              <a:gd name="adj" fmla="val 3704"/>
            </a:avLst>
          </a:prstGeom>
          <a:solidFill>
            <a:srgbClr val="12181D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81328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접속에 필요한 것(인증서 · 브로커 주소 · 카메라 URL)은 전부 비밀정보다. 저장소에도, 배포본에도 넣지 않는다.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사용자가 1회용 토큰 하나를 입력하면 나머지를 런타임에 발급·구성한다.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907792"/>
            <a:ext cx="310896" cy="310896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입력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36027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화면에서 1회용 토큰 · 기기 이름 · 카메라 접속 정보 입력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3520440"/>
            <a:ext cx="18288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74136" y="2743200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5304" y="2907792"/>
            <a:ext cx="310896" cy="310896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75304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/enroll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75304" y="36027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실행파일에 내장된 사설 CA(resources/ca.crt)로만 서버 신원 검증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98464" y="3520440"/>
            <a:ext cx="18288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99632" y="2743200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07792"/>
            <a:ext cx="310896" cy="310896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수신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36027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 · 클라이언트 인증서 · 개인키 · 브로커 주소를 사용자 데이터 폴더에 저장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23960" y="3520440"/>
            <a:ext cx="182880" cy="0"/>
          </a:xfrm>
          <a:prstGeom prst="line">
            <a:avLst/>
          </a:prstGeom>
          <a:noFill/>
          <a:ln w="19050">
            <a:solidFill>
              <a:srgbClr val="FF6A1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25128" y="2743200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26296" y="2907792"/>
            <a:ext cx="310896" cy="310896"/>
          </a:xfrm>
          <a:prstGeom prst="ellipse">
            <a:avLst/>
          </a:prstGeom>
          <a:solidFill>
            <a:srgbClr val="2B1A10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26296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mTLS 접속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226296" y="36027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8883 접속. 권한은 인증서 CN 으로 판정되고 Client ID 는 호스트명+난수로 유일화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5486400" cy="1691640"/>
          </a:xfrm>
          <a:prstGeom prst="roundRect">
            <a:avLst>
              <a:gd name="adj" fmla="val 2703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681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판단 — 카메라 설정은 서버를 거치지 않는다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724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처음에는 카메라 설정을 브로커 retained 토픽으로 뿌리게 만들었다. 그런데 카메라는 RPi 와 물리적으로 떨어져 있고 데몬은 카메라를 건드리지 않는다 — 서버를 경유할 이유가 없었다. 배포 경로를 걷어내고 등록 화면 직접 입력으로 되돌렸고, 이후 변경은 재시작 없이 즉시 반영된다.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526280"/>
            <a:ext cx="5376672" cy="1691640"/>
          </a:xfrm>
          <a:prstGeom prst="roundRect">
            <a:avLst>
              <a:gd name="adj" fmla="val 2703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681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밖의 보안 조치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92240" y="4983480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패키징 스크립트가 .key/.crt/.pem, mqtt.json, cameras.json 혼입을 검사해 발견 시 중단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 시 이 기기의 인증서·설정을 삭제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RTSP 재연결은 3회(3초·6초)만 시도 — 무한 재시도로 로그·계정 잠금을 유발하지 않는다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cert_dir 을 실행파일 위치 기준으로 해석 — 평문 degrade 를 막는다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프로젝트 수행 경과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제시 ⑤  배포 패키징 및 검증 결과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9824" cy="3291840"/>
          </a:xfrm>
          <a:prstGeom prst="roundRect">
            <a:avLst>
              <a:gd name="adj" fmla="val 1389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macOS  (.app / .dmg)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95528" y="1874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macdeployqt 로 Qt 프레임워크 + Homebrew dylib 번들링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플러그인(QtPdf/QtSvg/VirtualKeyboard) 제거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/opt/homebrew 절대경로를 install_name_tool 로 재기록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codesign ad-hoc 재서명 후 hdiutil 로 .dmg 생성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4983480" cy="914400"/>
          </a:xfrm>
          <a:prstGeom prst="roundRect">
            <a:avLst>
              <a:gd name="adj" fmla="val 5000"/>
            </a:avLst>
          </a:prstGeom>
          <a:solidFill>
            <a:srgbClr val="16241D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6576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2026-08-14 — Homebrew 잔여 참조 0건, .app 115MB / .dmg 52MB, 환경변수를 전부 지운 상태에서도 정상 기동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90488" y="1325880"/>
            <a:ext cx="5449824" cy="3291840"/>
          </a:xfrm>
          <a:prstGeom prst="roundRect">
            <a:avLst>
              <a:gd name="adj" fmla="val 1389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 (.exe / .zip)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37376" y="1874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vcpkg + MSVC 2022 x64 로 빌드 (qtbase / ffmpeg / openssl / paho-mqttcpp)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windeployqt 로 Qt DLL·플러그인·MSVC 런타임 수집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windeployqt 가 모르는 Paho/FFmpeg/OpenSSL DLL 을 와일드카드로 수집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비밀정보 혼입 검사 통과 후 zip 생성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19088" y="3520440"/>
            <a:ext cx="4983480" cy="914400"/>
          </a:xfrm>
          <a:prstGeom prst="roundRect">
            <a:avLst>
              <a:gd name="adj" fmla="val 5000"/>
            </a:avLst>
          </a:prstGeom>
          <a:solidFill>
            <a:srgbClr val="16241D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36576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2026-08-14 — Qt/FFmpeg/Paho 가 설치되지 않은 다른 PC 에서 압축 해제 후 실행 확인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4415" cy="1371600"/>
          </a:xfrm>
          <a:prstGeom prst="roundRect">
            <a:avLst>
              <a:gd name="adj" fmla="val 3333"/>
            </a:avLst>
          </a:prstGeom>
          <a:solidFill>
            <a:srgbClr val="12181D"/>
          </a:solidFill>
          <a:ln w="12700">
            <a:solidFill>
              <a:srgbClr val="E2A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83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패키징에서 걸렸던 함정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3035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vcpkg 로 빌드하면 DLL 이 PATH 에 없어 -ExtraDllDirs 없이 만든 zip 이 다른 PC 에서 실행 즉시 죽는다. 스크립트가 중단하지 않고 경고만 남기므로 마지막 경고 목록을 반드시 확인해야 한다.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개발 머신에서의 env -i 실행은 '설정 없는 새 PC' 검증이 아니다 — Qt 가 getpwuid 로 사용자 데이터 폴더를 찾아내기 때문. 신규 사용자 흐름은 그 폴더를 옮겨두고 확인했다.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빈 certs/ 폴더를 배포본 옆에 두면 발급받은 인증서를 가려 MQTT 가 조용히 평문으로 degrade 된다 — 문서에 경고로 명시.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프로젝트 수행 경과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제시 ⑥  피드백과 반영 내역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4415" cy="1078992"/>
          </a:xfrm>
          <a:prstGeom prst="roundRect">
            <a:avLst>
              <a:gd name="adj" fmla="val 423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9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데몬 파트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463040"/>
            <a:ext cx="0" cy="804672"/>
          </a:xfrm>
          <a:prstGeom prst="line">
            <a:avLst/>
          </a:prstGeom>
          <a:noFill/>
          <a:ln w="12700">
            <a:solidFill>
              <a:srgbClr val="212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472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17099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계약서 토픽과 실구현이 다르다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1709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1472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20840" y="170992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토픽 상수를 실구현 기준으로 정렬하고, 계약서와 어긋난 지점을 README 에 경고로 남겨 재확정 시 함께 고치도록 했다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11094415" cy="1078992"/>
          </a:xfrm>
          <a:prstGeom prst="roundRect">
            <a:avLst>
              <a:gd name="adj" fmla="val 423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리뷰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0280" y="2670048"/>
            <a:ext cx="0" cy="804672"/>
          </a:xfrm>
          <a:prstGeom prst="line">
            <a:avLst/>
          </a:prstGeom>
          <a:noFill/>
          <a:ln w="12700">
            <a:solidFill>
              <a:srgbClr val="212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2679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29169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설정을 브로커로 배포할 이유가 없다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2916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2679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291693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retained 토픽 배포 경로를 제거하고 등록 화면 직접 입력으로 전환(커밋 2건). 변경은 재시작 없이 즉시 반영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11094415" cy="1078992"/>
          </a:xfrm>
          <a:prstGeom prst="roundRect">
            <a:avLst>
              <a:gd name="adj" fmla="val 423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23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40280" y="3877056"/>
            <a:ext cx="0" cy="804672"/>
          </a:xfrm>
          <a:prstGeom prst="line">
            <a:avLst/>
          </a:prstGeom>
          <a:noFill/>
          <a:ln w="12700">
            <a:solidFill>
              <a:srgbClr val="212A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886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23160" y="41239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높이 기본값이 실측과 다르고 오류코드가 데몬과 어긋난다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4123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3886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0840" y="412394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기본값을 2400mm → 실측 1805mm 로, 사용자 안전정지 코드를 0 → 100 으로 정정하고 오류코드 표를 데몬 현행에 맞춤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46904"/>
            <a:ext cx="11094415" cy="1078992"/>
          </a:xfrm>
          <a:prstGeom prst="roundRect">
            <a:avLst>
              <a:gd name="adj" fmla="val 4237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 파트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5084064"/>
            <a:ext cx="0" cy="804672"/>
          </a:xfrm>
          <a:prstGeom prst="line">
            <a:avLst/>
          </a:prstGeom>
          <a:noFill/>
          <a:ln w="12700">
            <a:solidFill>
              <a:srgbClr val="212A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5093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23160" y="53309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 v6 — state/daemon 에 STM 진단 카운터, event/error 에 축 정보가 실린다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5330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5093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533095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측 모델을 맞추고, valid=false 인 카운터를 0(정상)으로 그리지 않도록 처리. 오류 로그에 발생 축을 표기해 배선 점검 범위를 좁혔다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피드백 출처와 일자는 회의록 기준으로 보완 필요. 위 내용은 커밋 메시지에 남은 변경 사유에서 재구성한 것이다.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프로젝트 수행 경과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제시 ⑦  시연 동영상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1087"/>
            </a:avLst>
          </a:prstGeom>
          <a:solidFill>
            <a:srgbClr val="0E1216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3320" y="3154680"/>
            <a:ext cx="685800" cy="685800"/>
          </a:xfrm>
          <a:prstGeom prst="ellipse">
            <a:avLst/>
          </a:prstGeom>
          <a:solidFill>
            <a:srgbClr val="2B1A10"/>
          </a:solidFill>
          <a:ln w="19050">
            <a:solidFill>
              <a:srgbClr val="FF6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332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삽입 자리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 5~10분 내 · 100MB 이하 · 기능별 소개 음성 포함 · 별도 파일 제출 가능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0" y="1371600"/>
            <a:ext cx="3959352" cy="4206240"/>
          </a:xfrm>
          <a:prstGeom prst="roundRect">
            <a:avLst>
              <a:gd name="adj" fmla="val 115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시나리오 (초안)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9560" y="1920240"/>
            <a:ext cx="350215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마법사 — 토큰 입력부터 인증서 발급·mTLS 접속까지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 — CCTV 4채널 동시 표시, 좌우 비율 조정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CALIBRATION 탭에서 스캔 파라미터 입력 후 SCAN 실행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진행률 표시(~2Hz)와 상태 전이(SCANNING → EXPORT → IDLE)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종료 즉시 Top-View 점군 표시, 3D 뷰 전환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DISARM 비상정지 → REARM 재개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수평 경고 배너 · EVENT LOG 오류 표시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모드 — 장비 없이 동일 흐름 재생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5715000"/>
            <a:ext cx="11094415" cy="6858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12700">
            <a:solidFill>
              <a:srgbClr val="E2A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89788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A3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영상은 미촬영 상태. 미구현 구간(발급 서비스 실연동)은 데모 모드 또는 실장비 mTLS 연동 화면으로 대체 촬영이 필요하다.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자체 평가 의견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의도와의 부합 정도 · 완성도 · 활용 가능성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57016" cy="1463040"/>
          </a:xfrm>
          <a:prstGeom prst="roundRect">
            <a:avLst>
              <a:gd name="adj" fmla="val 312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 부합도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880360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80360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기획한 '한 화면에서 스캔·감시·정지·확인' 은 전부 동작한다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06824" y="1325880"/>
            <a:ext cx="3557016" cy="1463040"/>
          </a:xfrm>
          <a:prstGeom prst="roundRect">
            <a:avLst>
              <a:gd name="adj" fmla="val 312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481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완성도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38544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3854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35424" y="2212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Qt 파트는 배포 가능한 수준. 발급 서비스 실연동이 남았다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1325880"/>
            <a:ext cx="3557016" cy="1463040"/>
          </a:xfrm>
          <a:prstGeom prst="roundRect">
            <a:avLst>
              <a:gd name="adj" fmla="val 3125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481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활용 가능성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396728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0396728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93608" y="2212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기반이라 재사용은 쉽지만, 캘리브 품질 표시가 아직 없다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557016" cy="2514600"/>
          </a:xfrm>
          <a:prstGeom prst="roundRect">
            <a:avLst>
              <a:gd name="adj" fmla="val 181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BBD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3456432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인터페이스를 문서로 먼저 고정해 파트 간 재작업을 줄였다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문서와 실구현이 어긋났을 때 실구현을 기준으로 삼고 그 사유를 기록으로 남겼다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'모르는 값' 을 정상으로 표시하지 않는 원칙을 IMU·STM 진단 양쪽에 일관되게 적용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없이 실행되는 배포본을 두 OS 모두에서 실제 검증까지 마쳤다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06824" y="2926080"/>
            <a:ext cx="3557016" cy="2514600"/>
          </a:xfrm>
          <a:prstGeom prst="roundRect">
            <a:avLst>
              <a:gd name="adj" fmla="val 181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아쉬운 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3456432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발급 서비스(/enroll)가 뜨지 않아 등록 마법사의 실제 발급 경로를 끝까지 확인하지 못했다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Qt 저장소 커밋이 특정 인원에 집중되어 파트 내 리뷰가 충분치 않았다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테스트가 없다 — 검증이 수동 시연과 데모 모드에 의존한다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점군을 그리기만 할 뿐 벽·기둥 에지 추출까지는 가지 못했다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65008" y="2926080"/>
            <a:ext cx="3557016" cy="2514600"/>
          </a:xfrm>
          <a:prstGeom prst="roundRect">
            <a:avLst>
              <a:gd name="adj" fmla="val 1818"/>
            </a:avLst>
          </a:prstGeom>
          <a:solidFill>
            <a:srgbClr val="12181D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추후 개선 방향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11896" y="3456432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발급 서비스 연동 마무리 후 신규 PC 등록 전 과정 검증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CALIBRATION 탭에 캘리브 품질(NCC·edge_rmse·extrinsic) 패널 추가 — 발행 토픽 확정 대기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에지 추출과 스캔–영상 정합 결과의 시각적 확인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프로그램(Inno Setup) 및 인증서 무효화(CRL) 대응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1094415" cy="777240"/>
          </a:xfrm>
          <a:prstGeom prst="roundRect">
            <a:avLst>
              <a:gd name="adj" fmla="val 5882"/>
            </a:avLst>
          </a:prstGeom>
          <a:solidFill>
            <a:srgbClr val="12181D"/>
          </a:solidFill>
          <a:ln w="12700">
            <a:solidFill>
              <a:srgbClr val="1C24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742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느낀 점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011680" y="5742432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A6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파트가 물리는 시스템에서는 코드보다 인터페이스 합의가 먼저였다. 문서와 실물이 다를 때 무엇을 기준으로 삼고 그 판단을 어디에 남길지가 개발 속도를 갈랐다는 점이 가장 크게 남는다.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05525" y="3896128"/>
            <a:ext cx="68061" cy="6806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5415" y="5794056"/>
            <a:ext cx="38998" cy="3899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39380" y="2221011"/>
            <a:ext cx="63368" cy="63368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2974" y="4900505"/>
            <a:ext cx="59329" cy="59329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48420" y="2184664"/>
            <a:ext cx="55101" cy="55101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4606" y="1258864"/>
            <a:ext cx="31494" cy="3149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089" y="912936"/>
            <a:ext cx="69223" cy="69223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58091" y="5155565"/>
            <a:ext cx="69511" cy="6951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500" y="4154130"/>
            <a:ext cx="53806" cy="53806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07872" y="2144220"/>
            <a:ext cx="36784" cy="3678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94429" y="411640"/>
            <a:ext cx="66987" cy="6698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5060" y="2738169"/>
            <a:ext cx="69344" cy="6934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5321" y="425717"/>
            <a:ext cx="38211" cy="38211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7434" y="4290169"/>
            <a:ext cx="32290" cy="32290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0287" y="1095302"/>
            <a:ext cx="62870" cy="62870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9437" y="5968227"/>
            <a:ext cx="58266" cy="58266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7105" y="2496030"/>
            <a:ext cx="41620" cy="41620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2181" y="3309848"/>
            <a:ext cx="64862" cy="64862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0219" y="4476631"/>
            <a:ext cx="35986" cy="35986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03443" y="5240025"/>
            <a:ext cx="34016" cy="34016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90741" y="1213167"/>
            <a:ext cx="60080" cy="6008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7668" y="6161728"/>
            <a:ext cx="47574" cy="47574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6448" y="4353513"/>
            <a:ext cx="39960" cy="39960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5968" y="5016060"/>
            <a:ext cx="33286" cy="3328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91784" y="2854879"/>
            <a:ext cx="32068" cy="3206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56119" y="3920815"/>
            <a:ext cx="44209" cy="4420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57861" y="423406"/>
            <a:ext cx="60678" cy="6067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42566" y="4766883"/>
            <a:ext cx="65669" cy="65669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2457" y="1899770"/>
            <a:ext cx="31526" cy="3152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36421" y="3772485"/>
            <a:ext cx="35576" cy="3557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70015" y="3729100"/>
            <a:ext cx="41697" cy="4169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5461" y="2374698"/>
            <a:ext cx="32389" cy="3238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1648" y="768178"/>
            <a:ext cx="34182" cy="34182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64131" y="3825850"/>
            <a:ext cx="36351" cy="3635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25133" y="3303440"/>
            <a:ext cx="31559" cy="3155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83542" y="1621284"/>
            <a:ext cx="41254" cy="41254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44914" y="3014974"/>
            <a:ext cx="34392" cy="34392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51471" y="2643835"/>
            <a:ext cx="59515" cy="5951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2102" y="4289643"/>
            <a:ext cx="41553" cy="41553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02363" y="5380791"/>
            <a:ext cx="66299" cy="66299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94475" y="4480203"/>
            <a:ext cx="55298" cy="5529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97329" y="604616"/>
            <a:ext cx="65558" cy="6555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56478" y="2754662"/>
            <a:ext cx="71114" cy="7111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14147" y="643905"/>
            <a:ext cx="49388" cy="49388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729222" y="777002"/>
            <a:ext cx="52310" cy="5231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67261" y="5347386"/>
            <a:ext cx="33595" cy="33595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0485" y="1345739"/>
            <a:ext cx="72265" cy="7226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87782" y="2764641"/>
            <a:ext cx="32289" cy="32289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54710" y="4990323"/>
            <a:ext cx="29942" cy="29942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3489" y="4543548"/>
            <a:ext cx="62968" cy="6296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93009" y="4525374"/>
            <a:ext cx="35974" cy="35974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38826" y="5767793"/>
            <a:ext cx="44916" cy="4491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423160" y="2068689"/>
            <a:ext cx="51977" cy="5197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4903" y="4017040"/>
            <a:ext cx="48126" cy="4812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79608" y="5637637"/>
            <a:ext cx="63277" cy="6327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89498" y="4131964"/>
            <a:ext cx="69774" cy="69774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63463" y="5323960"/>
            <a:ext cx="53505" cy="5350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97057" y="2557694"/>
            <a:ext cx="69785" cy="69785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02503" y="2564732"/>
            <a:ext cx="55397" cy="5539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608690" y="6403972"/>
            <a:ext cx="36870" cy="3687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11173" y="612285"/>
            <a:ext cx="49199" cy="49199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92174" y="1451314"/>
            <a:ext cx="39327" cy="3932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90583" y="5214918"/>
            <a:ext cx="28702" cy="28702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81955" y="3885728"/>
            <a:ext cx="32000" cy="32000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08512" y="4876029"/>
            <a:ext cx="52043" cy="52043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29143" y="5841118"/>
            <a:ext cx="59481" cy="59481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759404" y="4209386"/>
            <a:ext cx="48668" cy="4866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41517" y="4670237"/>
            <a:ext cx="32586" cy="32586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84370" y="6240410"/>
            <a:ext cx="68246" cy="6824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73520" y="5667576"/>
            <a:ext cx="38242" cy="38242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81188" y="4918259"/>
            <a:ext cx="57156" cy="5715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606264" y="4370636"/>
            <a:ext cx="39758" cy="39758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04302" y="6218140"/>
            <a:ext cx="31203" cy="31203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47526" y="3577934"/>
            <a:ext cx="64793" cy="64793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4824" y="4316116"/>
            <a:ext cx="50217" cy="50217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1752" y="3818917"/>
            <a:ext cx="58030" cy="58030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00531" y="4733582"/>
            <a:ext cx="40256" cy="4025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210051" y="4034688"/>
            <a:ext cx="38662" cy="38662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55867" y="2554228"/>
            <a:ext cx="57765" cy="57765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90202" y="6343044"/>
            <a:ext cx="59746" cy="59746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41944" y="1484195"/>
            <a:ext cx="35574" cy="3557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816650" y="381911"/>
            <a:ext cx="60886" cy="60886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76540" y="6364159"/>
            <a:ext cx="62302" cy="62302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0505" y="748954"/>
            <a:ext cx="71433" cy="71433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24099" y="1386288"/>
            <a:ext cx="52153" cy="52153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9545" y="2754767"/>
            <a:ext cx="32685" cy="32685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295731" y="5913287"/>
            <a:ext cx="39558" cy="3955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628214" y="3525199"/>
            <a:ext cx="62047" cy="62047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59216" y="5725668"/>
            <a:ext cx="47095" cy="4709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97625" y="2682073"/>
            <a:ext cx="61870" cy="6187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18997" y="4756483"/>
            <a:ext cx="29608" cy="29608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95554" y="981743"/>
            <a:ext cx="44572" cy="44572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26185" y="1266112"/>
            <a:ext cx="31689" cy="31689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986446" y="3037980"/>
            <a:ext cx="31036" cy="31036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118559" y="4860272"/>
            <a:ext cx="55595" cy="5559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01412" y="5749725"/>
            <a:ext cx="70934" cy="70934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20562" y="2454010"/>
            <a:ext cx="51090" cy="5109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8230" y="3066133"/>
            <a:ext cx="64924" cy="6492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913306" y="1837791"/>
            <a:ext cx="72926" cy="72926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841344" y="962414"/>
            <a:ext cx="28811" cy="2881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04568" y="5810128"/>
            <a:ext cx="57321" cy="57321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81866" y="5867590"/>
            <a:ext cx="68145" cy="68145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538793" y="2647511"/>
            <a:ext cx="40399" cy="40399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977573" y="4923616"/>
            <a:ext cx="63264" cy="63264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897093" y="3544003"/>
            <a:ext cx="41350" cy="41350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002909" y="5467142"/>
            <a:ext cx="70613" cy="70613"/>
          </a:xfrm>
          <a:prstGeom prst="ellipse">
            <a:avLst/>
          </a:prstGeom>
          <a:solidFill>
            <a:srgbClr val="6B7883"/>
          </a:solidFill>
          <a:ln w="12700">
            <a:solidFill>
              <a:srgbClr val="6B788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957244" y="4490918"/>
            <a:ext cx="67514" cy="67514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348986" y="5077829"/>
            <a:ext cx="68742" cy="68742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853691" y="1252666"/>
            <a:ext cx="58494" cy="58494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433582" y="2469873"/>
            <a:ext cx="54830" cy="54830"/>
          </a:xfrm>
          <a:prstGeom prst="ellipse">
            <a:avLst/>
          </a:prstGeom>
          <a:solidFill>
            <a:srgbClr val="4BBD85"/>
          </a:solidFill>
          <a:ln w="12700">
            <a:solidFill>
              <a:srgbClr val="4BBD8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377440" y="2103120"/>
            <a:ext cx="7434072" cy="2651760"/>
          </a:xfrm>
          <a:prstGeom prst="roundRect">
            <a:avLst>
              <a:gd name="adj" fmla="val 1724"/>
            </a:avLst>
          </a:prstGeom>
          <a:solidFill>
            <a:srgbClr val="12181D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377440" y="2651760"/>
            <a:ext cx="7434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114" name="Text 112"/>
          <p:cNvSpPr/>
          <p:nvPr/>
        </p:nvSpPr>
        <p:spPr>
          <a:xfrm>
            <a:off x="2377440" y="3520440"/>
            <a:ext cx="7434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A7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SPATIAL·VMS  —  TEAM Oppenheimer</a:t>
            </a:r>
            <a:endParaRPr lang="en-US" sz="1500" dirty="0"/>
          </a:p>
        </p:txBody>
      </p:sp>
      <p:sp>
        <p:nvSpPr>
          <p:cNvPr id="115" name="Text 113"/>
          <p:cNvSpPr/>
          <p:nvPr/>
        </p:nvSpPr>
        <p:spPr>
          <a:xfrm>
            <a:off x="2377440" y="3977640"/>
            <a:ext cx="7434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8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github.com/VEDA-4th-Oppenheimer/QT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2026-08-20T02:44:04Z</dcterms:created>
  <dcterms:modified xsi:type="dcterms:W3CDTF">2026-08-20T02:44:04Z</dcterms:modified>
</cp:coreProperties>
</file>